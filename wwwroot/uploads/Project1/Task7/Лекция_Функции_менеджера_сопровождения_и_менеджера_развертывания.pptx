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5" r:id="rId1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-1512" y="-8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0725A-31F2-4F99-A08E-66AAC8782239}" type="datetimeFigureOut">
              <a:rPr lang="ru-RU" smtClean="0"/>
              <a:t>08.09.2021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Rectangle 8"/>
          <p:cNvSpPr/>
          <p:nvPr/>
        </p:nvSpPr>
        <p:spPr>
          <a:xfrm>
            <a:off x="345440" y="2942602"/>
            <a:ext cx="7147931" cy="24638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572652" y="2944634"/>
            <a:ext cx="1190348" cy="2459736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7712714" y="3136658"/>
            <a:ext cx="910224" cy="2075688"/>
          </a:xfrm>
          <a:prstGeom prst="rect">
            <a:avLst/>
          </a:prstGeom>
          <a:solidFill>
            <a:schemeClr val="accent3">
              <a:alpha val="70000"/>
            </a:schemeClr>
          </a:solidFill>
          <a:ln w="63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445483" y="3055621"/>
            <a:ext cx="6947845" cy="2245359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86826" y="4625268"/>
            <a:ext cx="762000" cy="457200"/>
          </a:xfrm>
        </p:spPr>
        <p:txBody>
          <a:bodyPr/>
          <a:lstStyle>
            <a:lvl1pPr algn="ctr">
              <a:defRPr sz="28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6065A98-B6CE-4F1A-941F-9B22507A711C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Rectangle 10"/>
          <p:cNvSpPr/>
          <p:nvPr/>
        </p:nvSpPr>
        <p:spPr>
          <a:xfrm>
            <a:off x="541822" y="4559276"/>
            <a:ext cx="6755166" cy="664367"/>
          </a:xfrm>
          <a:prstGeom prst="rect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38971" y="3139440"/>
            <a:ext cx="6760868" cy="2077720"/>
          </a:xfrm>
          <a:prstGeom prst="rect">
            <a:avLst/>
          </a:prstGeom>
          <a:noFill/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2805" y="4648200"/>
            <a:ext cx="6553200" cy="457200"/>
          </a:xfrm>
        </p:spPr>
        <p:txBody>
          <a:bodyPr>
            <a:normAutofit/>
          </a:bodyPr>
          <a:lstStyle>
            <a:lvl1pPr marL="0" indent="0" algn="ctr">
              <a:buNone/>
              <a:defRPr sz="1800" cap="all" spc="300" baseline="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4705" y="3227033"/>
            <a:ext cx="6629400" cy="1219201"/>
          </a:xfrm>
        </p:spPr>
        <p:txBody>
          <a:bodyPr anchor="b" anchorCtr="0">
            <a:noAutofit/>
          </a:bodyPr>
          <a:lstStyle>
            <a:lvl1pPr>
              <a:defRPr sz="4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0725A-31F2-4F99-A08E-66AAC8782239}" type="datetimeFigureOut">
              <a:rPr lang="ru-RU" smtClean="0"/>
              <a:t>08.09.2021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65A98-B6CE-4F1A-941F-9B22507A711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0725A-31F2-4F99-A08E-66AAC8782239}" type="datetimeFigureOut">
              <a:rPr lang="ru-RU" smtClean="0"/>
              <a:t>08.09.2021</a:t>
            </a:fld>
            <a:endParaRPr lang="ru-RU"/>
          </a:p>
        </p:txBody>
      </p:sp>
      <p:sp>
        <p:nvSpPr>
          <p:cNvPr id="13" name="Rectangle 12"/>
          <p:cNvSpPr/>
          <p:nvPr/>
        </p:nvSpPr>
        <p:spPr>
          <a:xfrm>
            <a:off x="451976" y="2946400"/>
            <a:ext cx="8265160" cy="24638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567656" y="3048000"/>
            <a:ext cx="8033800" cy="2245359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65A98-B6CE-4F1A-941F-9B22507A711C}" type="slidenum">
              <a:rPr lang="ru-RU" smtClean="0"/>
              <a:t>‹#›</a:t>
            </a:fld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6" y="3200399"/>
            <a:ext cx="7696200" cy="1295401"/>
          </a:xfrm>
        </p:spPr>
        <p:txBody>
          <a:bodyPr anchor="b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4000" kern="1200" cap="all" baseline="0" dirty="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675496" y="4541520"/>
            <a:ext cx="7818120" cy="664367"/>
          </a:xfrm>
          <a:prstGeom prst="rect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4607510"/>
            <a:ext cx="7696200" cy="523783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cap="all" spc="250" baseline="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5757" y="3124200"/>
            <a:ext cx="7817599" cy="2077720"/>
          </a:xfrm>
          <a:prstGeom prst="rect">
            <a:avLst/>
          </a:prstGeom>
          <a:noFill/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6128" y="1719071"/>
            <a:ext cx="4038600" cy="44074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071"/>
            <a:ext cx="4038600" cy="44074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0725A-31F2-4F99-A08E-66AAC8782239}" type="datetimeFigureOut">
              <a:rPr lang="ru-RU" smtClean="0"/>
              <a:t>08.09.2021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65A98-B6CE-4F1A-941F-9B22507A711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6128" y="1722438"/>
            <a:ext cx="4040188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128" y="2438400"/>
            <a:ext cx="4040188" cy="36877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722438"/>
            <a:ext cx="4041775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38400"/>
            <a:ext cx="4041775" cy="36877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0725A-31F2-4F99-A08E-66AAC8782239}" type="datetimeFigureOut">
              <a:rPr lang="ru-RU" smtClean="0"/>
              <a:t>08.09.2021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65A98-B6CE-4F1A-941F-9B22507A711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0725A-31F2-4F99-A08E-66AAC8782239}" type="datetimeFigureOut">
              <a:rPr lang="ru-RU" smtClean="0"/>
              <a:t>08.09.2021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65A98-B6CE-4F1A-941F-9B22507A711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ounded Rectangle 10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0725A-31F2-4F99-A08E-66AAC8782239}" type="datetimeFigureOut">
              <a:rPr lang="ru-RU" smtClean="0"/>
              <a:t>08.09.2021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65A98-B6CE-4F1A-941F-9B22507A711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ounded Rectangle 11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685800"/>
            <a:ext cx="4572000" cy="52578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0725A-31F2-4F99-A08E-66AAC8782239}" type="datetimeFigureOut">
              <a:rPr lang="ru-RU" smtClean="0"/>
              <a:t>08.09.2021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65A98-B6CE-4F1A-941F-9B22507A711C}" type="slidenum">
              <a:rPr lang="ru-RU" smtClean="0"/>
              <a:t>‹#›</a:t>
            </a:fld>
            <a:endParaRPr lang="ru-RU"/>
          </a:p>
        </p:txBody>
      </p:sp>
      <p:sp>
        <p:nvSpPr>
          <p:cNvPr id="8" name="Rectangle 7"/>
          <p:cNvSpPr/>
          <p:nvPr/>
        </p:nvSpPr>
        <p:spPr>
          <a:xfrm>
            <a:off x="560034" y="1505712"/>
            <a:ext cx="2716566" cy="3523488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76690" y="1642472"/>
            <a:ext cx="2483254" cy="3234328"/>
          </a:xfrm>
          <a:prstGeom prst="rect">
            <a:avLst/>
          </a:prstGeom>
          <a:solidFill>
            <a:srgbClr val="FFFFFF"/>
          </a:solidFill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9000" y="2971800"/>
            <a:ext cx="2298634" cy="1752600"/>
          </a:xfrm>
        </p:spPr>
        <p:txBody>
          <a:bodyPr/>
          <a:lstStyle>
            <a:lvl1pPr marL="0" indent="0">
              <a:spcBef>
                <a:spcPts val="4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000" y="1734312"/>
            <a:ext cx="2298634" cy="1191620"/>
          </a:xfrm>
        </p:spPr>
        <p:txBody>
          <a:bodyPr anchor="b">
            <a:normAutofit/>
          </a:bodyPr>
          <a:lstStyle>
            <a:lvl1pPr algn="l"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5800" y="621437"/>
            <a:ext cx="7772400" cy="4331564"/>
          </a:xfrm>
          <a:solidFill>
            <a:schemeClr val="bg2"/>
          </a:solidFill>
          <a:ln>
            <a:noFill/>
          </a:ln>
          <a:effectLst>
            <a:softEdge rad="12700"/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0725A-31F2-4F99-A08E-66AAC8782239}" type="datetimeFigureOut">
              <a:rPr lang="ru-RU" smtClean="0"/>
              <a:t>08.09.2021</a:t>
            </a:fld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65A98-B6CE-4F1A-941F-9B22507A711C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Rectangle 9"/>
          <p:cNvSpPr/>
          <p:nvPr/>
        </p:nvSpPr>
        <p:spPr>
          <a:xfrm>
            <a:off x="685800" y="4953000"/>
            <a:ext cx="7772400" cy="13716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61999" y="5029200"/>
            <a:ext cx="7600765" cy="1202924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3" name="Rectangle 12"/>
          <p:cNvSpPr/>
          <p:nvPr/>
        </p:nvSpPr>
        <p:spPr>
          <a:xfrm>
            <a:off x="914400" y="5638800"/>
            <a:ext cx="7328514" cy="451696"/>
          </a:xfrm>
          <a:prstGeom prst="rect">
            <a:avLst/>
          </a:prstGeom>
          <a:solidFill>
            <a:schemeClr val="accent1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05589" y="5074920"/>
            <a:ext cx="7946136" cy="1097280"/>
          </a:xfrm>
          <a:prstGeom prst="rect">
            <a:avLst/>
          </a:prstGeom>
          <a:noFill/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56289" y="5656556"/>
            <a:ext cx="7244736" cy="40171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 cap="all" spc="250" baseline="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05400"/>
            <a:ext cx="7328514" cy="523043"/>
          </a:xfrm>
        </p:spPr>
        <p:txBody>
          <a:bodyPr anchor="ctr" anchorCtr="0"/>
          <a:lstStyle>
            <a:lvl1pPr algn="ctr"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0725A-31F2-4F99-A08E-66AAC8782239}" type="datetimeFigureOut">
              <a:rPr lang="ru-RU" smtClean="0"/>
              <a:t>08.09.2021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65A98-B6CE-4F1A-941F-9B22507A711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61702" y="228600"/>
            <a:ext cx="1859280" cy="6122634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955225" y="351409"/>
            <a:ext cx="1672235" cy="5877017"/>
          </a:xfrm>
          <a:prstGeom prst="rect">
            <a:avLst/>
          </a:pr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48577" y="395427"/>
            <a:ext cx="1485531" cy="5788981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80999"/>
            <a:ext cx="6172200" cy="5791201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0725A-31F2-4F99-A08E-66AAC8782239}" type="datetimeFigureOut">
              <a:rPr lang="ru-RU" smtClean="0"/>
              <a:t>08.09.2021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65A98-B6CE-4F1A-941F-9B22507A711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7" name="Rounded Rectangle 6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82296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F1F0725A-31F2-4F99-A08E-66AAC8782239}" type="datetimeFigureOut">
              <a:rPr lang="ru-RU" smtClean="0"/>
              <a:t>08.09.2021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56065A98-B6CE-4F1A-941F-9B22507A711C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/>
          <p:cNvSpPr/>
          <p:nvPr/>
        </p:nvSpPr>
        <p:spPr>
          <a:xfrm>
            <a:off x="274320" y="278166"/>
            <a:ext cx="8595360" cy="132588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72863" y="372862"/>
            <a:ext cx="8380520" cy="1118587"/>
          </a:xfrm>
          <a:prstGeom prst="rect">
            <a:avLst/>
          </a:pr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3500" kern="1200" cap="all" baseline="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19456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37744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Лекция 3</a:t>
            </a:r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Функции менеджера сопровождения и менеджера развертывания.</a:t>
            </a:r>
          </a:p>
        </p:txBody>
      </p:sp>
    </p:spTree>
    <p:extLst>
      <p:ext uri="{BB962C8B-B14F-4D97-AF65-F5344CB8AC3E}">
        <p14:creationId xmlns:p14="http://schemas.microsoft.com/office/powerpoint/2010/main" val="2320522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451" y="120385"/>
            <a:ext cx="8607425" cy="276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327" y="2708920"/>
            <a:ext cx="8496944" cy="228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4993045"/>
            <a:ext cx="8496944" cy="18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45259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518" y="1052736"/>
            <a:ext cx="8684965" cy="3888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66164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268760"/>
            <a:ext cx="8568952" cy="3384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55454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610" y="2636912"/>
            <a:ext cx="8333149" cy="3024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908720"/>
            <a:ext cx="8529239" cy="14547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47728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2152" y="2492896"/>
            <a:ext cx="5743575" cy="3676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647" y="548680"/>
            <a:ext cx="7977599" cy="18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07372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450" y="195263"/>
            <a:ext cx="803910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80577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692696"/>
            <a:ext cx="7687171" cy="4760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317" y="2132856"/>
            <a:ext cx="7668421" cy="576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63241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67544" y="548680"/>
            <a:ext cx="8136904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Менеджер сопровождения</a:t>
            </a:r>
            <a:r>
              <a:rPr lang="ru-RU" dirty="0"/>
              <a:t> – это сотрудник, который замыкает на себе основные функции работы с клиентом и оказывает ему поддержку – от момента первого визита и взаимодействия с администратором и на протяжении всего периода использования клиентом услуг салона или центра</a:t>
            </a:r>
            <a:r>
              <a:rPr lang="ru-RU" dirty="0" smtClean="0"/>
              <a:t>.</a:t>
            </a:r>
          </a:p>
          <a:p>
            <a:endParaRPr lang="ru-RU" dirty="0"/>
          </a:p>
          <a:p>
            <a:r>
              <a:rPr lang="ru-RU" dirty="0" smtClean="0"/>
              <a:t>Менеджер </a:t>
            </a:r>
            <a:r>
              <a:rPr lang="ru-RU" dirty="0"/>
              <a:t>сопровождения старается как можно дольше продлить сотрудничество своей компании с клиентом, постоянно расширяя и углубляя диапазон </a:t>
            </a:r>
            <a:r>
              <a:rPr lang="ru-RU" dirty="0" smtClean="0"/>
              <a:t>услуг</a:t>
            </a:r>
          </a:p>
          <a:p>
            <a:endParaRPr lang="ru-RU" dirty="0" smtClean="0"/>
          </a:p>
          <a:p>
            <a:r>
              <a:rPr lang="ru-RU" dirty="0" smtClean="0"/>
              <a:t>Одна </a:t>
            </a:r>
            <a:r>
              <a:rPr lang="ru-RU" dirty="0"/>
              <a:t>из задач менеджера сопровождения – повышение рентабельности обслуживания клиентов и повышение прибыли предприятия.</a:t>
            </a:r>
          </a:p>
        </p:txBody>
      </p:sp>
    </p:spTree>
    <p:extLst>
      <p:ext uri="{BB962C8B-B14F-4D97-AF65-F5344CB8AC3E}">
        <p14:creationId xmlns:p14="http://schemas.microsoft.com/office/powerpoint/2010/main" val="3054666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991" y="620688"/>
            <a:ext cx="8335173" cy="1872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283" y="2996952"/>
            <a:ext cx="8372931" cy="1872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1780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1" y="548679"/>
            <a:ext cx="8096900" cy="2112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1" y="2708920"/>
            <a:ext cx="8096900" cy="2376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33941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Аптека">
  <a:themeElements>
    <a:clrScheme name="Аптека">
      <a:dk1>
        <a:sysClr val="windowText" lastClr="000000"/>
      </a:dk1>
      <a:lt1>
        <a:sysClr val="window" lastClr="FFFFFF"/>
      </a:lt1>
      <a:dk2>
        <a:srgbClr val="564B3C"/>
      </a:dk2>
      <a:lt2>
        <a:srgbClr val="ECEDD1"/>
      </a:lt2>
      <a:accent1>
        <a:srgbClr val="93A299"/>
      </a:accent1>
      <a:accent2>
        <a:srgbClr val="CF543F"/>
      </a:accent2>
      <a:accent3>
        <a:srgbClr val="B5AE53"/>
      </a:accent3>
      <a:accent4>
        <a:srgbClr val="848058"/>
      </a:accent4>
      <a:accent5>
        <a:srgbClr val="E8B54D"/>
      </a:accent5>
      <a:accent6>
        <a:srgbClr val="786C71"/>
      </a:accent6>
      <a:hlink>
        <a:srgbClr val="CCCC00"/>
      </a:hlink>
      <a:folHlink>
        <a:srgbClr val="B2B2B2"/>
      </a:folHlink>
    </a:clrScheme>
    <a:fontScheme name="Аптека">
      <a:majorFont>
        <a:latin typeface="Book Antiqua"/>
        <a:ea typeface=""/>
        <a:cs typeface=""/>
        <a:font script="Jpan" typeface="HGS明朝B"/>
        <a:font script="Hang" typeface="HY견명조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견명조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Аптека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100000"/>
              </a:schemeClr>
            </a:gs>
            <a:gs pos="68000">
              <a:schemeClr val="phClr">
                <a:tint val="77000"/>
                <a:satMod val="100000"/>
              </a:schemeClr>
            </a:gs>
            <a:gs pos="81000">
              <a:schemeClr val="phClr">
                <a:tint val="79000"/>
                <a:satMod val="100000"/>
              </a:schemeClr>
            </a:gs>
            <a:gs pos="86000">
              <a:schemeClr val="phClr">
                <a:tint val="73000"/>
                <a:satMod val="100000"/>
              </a:schemeClr>
            </a:gs>
            <a:gs pos="100000">
              <a:schemeClr val="phClr">
                <a:tint val="35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3000"/>
                <a:shade val="100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tint val="100000"/>
                <a:shade val="57000"/>
                <a:satMod val="120000"/>
              </a:schemeClr>
            </a:gs>
            <a:gs pos="80000">
              <a:schemeClr val="phClr">
                <a:tint val="100000"/>
                <a:shade val="56000"/>
                <a:satMod val="145000"/>
              </a:schemeClr>
            </a:gs>
            <a:gs pos="88000">
              <a:schemeClr val="phClr">
                <a:tint val="100000"/>
                <a:shade val="63000"/>
                <a:satMod val="160000"/>
              </a:schemeClr>
            </a:gs>
            <a:gs pos="100000">
              <a:schemeClr val="phClr">
                <a:tint val="99000"/>
                <a:shade val="100000"/>
                <a:satMod val="155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glow" dir="tl">
              <a:rot lat="0" lon="0" rev="1800000"/>
            </a:lightRig>
          </a:scene3d>
          <a:sp3d contourW="10160" prstMaterial="dkEdge">
            <a:bevelT w="0" h="0" prst="angle"/>
            <a:contourClr>
              <a:schemeClr val="phClr">
                <a:shade val="30000"/>
                <a:satMod val="150000"/>
              </a:schemeClr>
            </a:contourClr>
          </a:sp3d>
        </a:effectStyle>
        <a:effectStyle>
          <a:effectLst>
            <a:glow rad="50800">
              <a:schemeClr val="phClr">
                <a:tint val="68000"/>
                <a:shade val="93000"/>
                <a:alpha val="37000"/>
                <a:satMod val="25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1800000"/>
            </a:lightRig>
          </a:scene3d>
          <a:sp3d contourW="10160" prstMaterial="dkEdge">
            <a:bevelT w="20320" h="19050" prst="angle"/>
            <a:contourClr>
              <a:schemeClr val="phClr">
                <a:shade val="3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3000"/>
            <a:satMod val="14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atMod val="170000"/>
              </a:schemeClr>
              <a:schemeClr val="phClr">
                <a:shade val="70000"/>
                <a:satMod val="13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Apothecary</Template>
  <TotalTime>10162</TotalTime>
  <Words>11</Words>
  <Application>Microsoft Office PowerPoint</Application>
  <PresentationFormat>Экран (4:3)</PresentationFormat>
  <Paragraphs>7</Paragraphs>
  <Slides>11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2" baseType="lpstr">
      <vt:lpstr>Аптека</vt:lpstr>
      <vt:lpstr>Функции менеджера сопровождения и менеджера развертывания.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Функции менеджера сопровождения и менеджера развертывания.</dc:title>
  <dc:creator>Кулешовы</dc:creator>
  <cp:lastModifiedBy>Кулешовы</cp:lastModifiedBy>
  <cp:revision>8</cp:revision>
  <dcterms:created xsi:type="dcterms:W3CDTF">2021-09-08T18:57:07Z</dcterms:created>
  <dcterms:modified xsi:type="dcterms:W3CDTF">2021-09-15T20:19:09Z</dcterms:modified>
</cp:coreProperties>
</file>